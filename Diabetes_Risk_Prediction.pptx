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1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4" d="100"/>
          <a:sy n="84" d="100"/>
        </p:scale>
        <p:origin x="629" y="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995751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3B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97680"/>
            <a:ext cx="3291840" cy="3291840"/>
          </a:xfrm>
          <a:prstGeom prst="ellipse">
            <a:avLst/>
          </a:prstGeom>
          <a:solidFill>
            <a:srgbClr val="3FA796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846320"/>
            <a:ext cx="2926080" cy="2926080"/>
          </a:xfrm>
          <a:prstGeom prst="ellipse">
            <a:avLst/>
          </a:prstGeom>
          <a:solidFill>
            <a:srgbClr val="F2A93B">
              <a:alpha val="16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· CLASSIFICATION PROJECT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2423160"/>
            <a:ext cx="987552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Diabetes Risk Prediction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84124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Low, Moderate, and High diabetes risk from clinical,</a:t>
            </a:r>
            <a:endParaRPr lang="en-US" sz="15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500" dirty="0">
                <a:solidFill>
                  <a:srgbClr val="C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demographic, and lifestyle data using five classification models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22960" y="4709160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082A3F"/>
          </a:solidFill>
          <a:ln w="15875">
            <a:solidFill>
              <a:srgbClr val="3FA79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87552" y="4864608"/>
            <a:ext cx="146304" cy="146304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10" name="Text 8"/>
          <p:cNvSpPr/>
          <p:nvPr/>
        </p:nvSpPr>
        <p:spPr>
          <a:xfrm>
            <a:off x="1207008" y="47091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0" y="4709160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082A3F"/>
          </a:solidFill>
          <a:ln w="15875">
            <a:solidFill>
              <a:srgbClr val="F2A93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907792" y="4864608"/>
            <a:ext cx="146304" cy="146304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3" name="Text 11"/>
          <p:cNvSpPr/>
          <p:nvPr/>
        </p:nvSpPr>
        <p:spPr>
          <a:xfrm>
            <a:off x="3127248" y="47091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663440" y="4709160"/>
            <a:ext cx="1691640" cy="457200"/>
          </a:xfrm>
          <a:prstGeom prst="roundRect">
            <a:avLst>
              <a:gd name="adj" fmla="val 16000"/>
            </a:avLst>
          </a:prstGeom>
          <a:solidFill>
            <a:srgbClr val="082A3F"/>
          </a:solidFill>
          <a:ln w="15875">
            <a:solidFill>
              <a:srgbClr val="E8604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28032" y="4864608"/>
            <a:ext cx="146304" cy="146304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6" name="Text 14"/>
          <p:cNvSpPr/>
          <p:nvPr/>
        </p:nvSpPr>
        <p:spPr>
          <a:xfrm>
            <a:off x="5047488" y="4709160"/>
            <a:ext cx="1234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822960" y="60807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8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15,000 patient records  ·  19 features  ·  5 models compared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Workflow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end-to-end supervised learning pipeline, from raw records to a compared, evaluated set of five classifiers.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874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58952" y="2130552"/>
            <a:ext cx="502920" cy="502920"/>
          </a:xfrm>
          <a:prstGeom prst="ellipse">
            <a:avLst/>
          </a:prstGeom>
          <a:solidFill>
            <a:srgbClr val="0B3B57"/>
          </a:solidFill>
          <a:ln/>
        </p:spPr>
      </p:sp>
      <p:sp>
        <p:nvSpPr>
          <p:cNvPr id="7" name="Text 5"/>
          <p:cNvSpPr/>
          <p:nvPr/>
        </p:nvSpPr>
        <p:spPr>
          <a:xfrm>
            <a:off x="758952" y="2130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417320" y="211226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Load Data</a:t>
            </a:r>
            <a:endParaRPr lang="en-US" sz="1550" dirty="0"/>
          </a:p>
        </p:txBody>
      </p:sp>
      <p:sp>
        <p:nvSpPr>
          <p:cNvPr id="9" name="Text 7"/>
          <p:cNvSpPr/>
          <p:nvPr/>
        </p:nvSpPr>
        <p:spPr>
          <a:xfrm>
            <a:off x="758952" y="278892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15,000 rows × 19 columns loaded from CSV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4032504" y="2656332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4279392" y="1874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35424" y="2130552"/>
            <a:ext cx="502920" cy="502920"/>
          </a:xfrm>
          <a:prstGeom prst="ellipse">
            <a:avLst/>
          </a:prstGeom>
          <a:solidFill>
            <a:srgbClr val="0B3B57"/>
          </a:solidFill>
          <a:ln/>
        </p:spPr>
      </p:sp>
      <p:sp>
        <p:nvSpPr>
          <p:cNvPr id="13" name="Text 11"/>
          <p:cNvSpPr/>
          <p:nvPr/>
        </p:nvSpPr>
        <p:spPr>
          <a:xfrm>
            <a:off x="4535424" y="2130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193792" y="211226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Explore (EDA)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4535424" y="278892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Boxplots, class balance, correlation heatmap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808976" y="2656332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8055864" y="187452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311896" y="2130552"/>
            <a:ext cx="502920" cy="502920"/>
          </a:xfrm>
          <a:prstGeom prst="ellipse">
            <a:avLst/>
          </a:prstGeom>
          <a:solidFill>
            <a:srgbClr val="0B3B57"/>
          </a:solidFill>
          <a:ln/>
        </p:spPr>
      </p:sp>
      <p:sp>
        <p:nvSpPr>
          <p:cNvPr id="19" name="Text 17"/>
          <p:cNvSpPr/>
          <p:nvPr/>
        </p:nvSpPr>
        <p:spPr>
          <a:xfrm>
            <a:off x="8311896" y="21305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8970264" y="211226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Clean</a:t>
            </a:r>
            <a:endParaRPr lang="en-US" sz="1550" dirty="0"/>
          </a:p>
        </p:txBody>
      </p:sp>
      <p:sp>
        <p:nvSpPr>
          <p:cNvPr id="21" name="Text 19"/>
          <p:cNvSpPr/>
          <p:nvPr/>
        </p:nvSpPr>
        <p:spPr>
          <a:xfrm>
            <a:off x="8311896" y="278892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irrelevant cols, handle nulls, dedupe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2920" y="4114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952" y="4370832"/>
            <a:ext cx="502920" cy="502920"/>
          </a:xfrm>
          <a:prstGeom prst="ellipse">
            <a:avLst/>
          </a:prstGeom>
          <a:solidFill>
            <a:srgbClr val="0B3B57"/>
          </a:solidFill>
          <a:ln/>
        </p:spPr>
      </p:sp>
      <p:sp>
        <p:nvSpPr>
          <p:cNvPr id="24" name="Text 22"/>
          <p:cNvSpPr/>
          <p:nvPr/>
        </p:nvSpPr>
        <p:spPr>
          <a:xfrm>
            <a:off x="758952" y="4370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417320" y="435254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Engineer Features</a:t>
            </a:r>
            <a:endParaRPr lang="en-US" sz="1550" dirty="0"/>
          </a:p>
        </p:txBody>
      </p:sp>
      <p:sp>
        <p:nvSpPr>
          <p:cNvPr id="26" name="Text 24"/>
          <p:cNvSpPr/>
          <p:nvPr/>
        </p:nvSpPr>
        <p:spPr>
          <a:xfrm>
            <a:off x="758952" y="502920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 pressure, sugar interaction term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032504" y="4896612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4279392" y="4114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35424" y="4370832"/>
            <a:ext cx="502920" cy="502920"/>
          </a:xfrm>
          <a:prstGeom prst="ellipse">
            <a:avLst/>
          </a:prstGeom>
          <a:solidFill>
            <a:srgbClr val="0B3B57"/>
          </a:solidFill>
          <a:ln/>
        </p:spPr>
      </p:sp>
      <p:sp>
        <p:nvSpPr>
          <p:cNvPr id="30" name="Text 28"/>
          <p:cNvSpPr/>
          <p:nvPr/>
        </p:nvSpPr>
        <p:spPr>
          <a:xfrm>
            <a:off x="4535424" y="4370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5193792" y="435254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Encode &amp; Scale</a:t>
            </a:r>
            <a:endParaRPr lang="en-US" sz="1550" dirty="0"/>
          </a:p>
        </p:txBody>
      </p:sp>
      <p:sp>
        <p:nvSpPr>
          <p:cNvPr id="32" name="Text 30"/>
          <p:cNvSpPr/>
          <p:nvPr/>
        </p:nvSpPr>
        <p:spPr>
          <a:xfrm>
            <a:off x="4535424" y="502920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/ ordinal encoding, RobustScaler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808976" y="4896612"/>
            <a:ext cx="2743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8055864" y="4114800"/>
            <a:ext cx="3520440" cy="1965960"/>
          </a:xfrm>
          <a:prstGeom prst="roundRect">
            <a:avLst>
              <a:gd name="adj" fmla="val 4186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8311896" y="4370832"/>
            <a:ext cx="502920" cy="502920"/>
          </a:xfrm>
          <a:prstGeom prst="ellipse">
            <a:avLst/>
          </a:prstGeom>
          <a:solidFill>
            <a:srgbClr val="0B3B57"/>
          </a:solidFill>
          <a:ln/>
        </p:spPr>
      </p:sp>
      <p:sp>
        <p:nvSpPr>
          <p:cNvPr id="36" name="Text 34"/>
          <p:cNvSpPr/>
          <p:nvPr/>
        </p:nvSpPr>
        <p:spPr>
          <a:xfrm>
            <a:off x="8311896" y="437083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2000" dirty="0"/>
          </a:p>
        </p:txBody>
      </p:sp>
      <p:sp>
        <p:nvSpPr>
          <p:cNvPr id="37" name="Text 35"/>
          <p:cNvSpPr/>
          <p:nvPr/>
        </p:nvSpPr>
        <p:spPr>
          <a:xfrm>
            <a:off x="8970264" y="4352544"/>
            <a:ext cx="24231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 &amp; Evaluate</a:t>
            </a:r>
            <a:endParaRPr lang="en-US" sz="1550" dirty="0"/>
          </a:p>
        </p:txBody>
      </p:sp>
      <p:sp>
        <p:nvSpPr>
          <p:cNvPr id="38" name="Text 36"/>
          <p:cNvSpPr/>
          <p:nvPr/>
        </p:nvSpPr>
        <p:spPr>
          <a:xfrm>
            <a:off x="8311896" y="5029200"/>
            <a:ext cx="3008376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models scored on accuracy, precision, recall, F1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Prediction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2971800" cy="868680"/>
          </a:xfrm>
          <a:prstGeom prst="roundRect">
            <a:avLst>
              <a:gd name="adj" fmla="val 8421"/>
            </a:avLst>
          </a:prstGeom>
          <a:solidFill>
            <a:srgbClr val="0B3B5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7160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15,000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1783080" y="137160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records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657600" y="1371600"/>
            <a:ext cx="2971800" cy="868680"/>
          </a:xfrm>
          <a:prstGeom prst="roundRect">
            <a:avLst>
              <a:gd name="adj" fmla="val 8421"/>
            </a:avLst>
          </a:prstGeom>
          <a:solidFill>
            <a:srgbClr val="0B3B57"/>
          </a:solidFill>
          <a:ln/>
        </p:spPr>
      </p:sp>
      <p:sp>
        <p:nvSpPr>
          <p:cNvPr id="8" name="Text 6"/>
          <p:cNvSpPr/>
          <p:nvPr/>
        </p:nvSpPr>
        <p:spPr>
          <a:xfrm>
            <a:off x="3794760" y="1371600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19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4937760" y="1371600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 columns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404872"/>
            <a:ext cx="2971800" cy="868680"/>
          </a:xfrm>
          <a:prstGeom prst="roundRect">
            <a:avLst>
              <a:gd name="adj" fmla="val 8421"/>
            </a:avLst>
          </a:prstGeom>
          <a:solidFill>
            <a:srgbClr val="0B3B57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404872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1783080" y="2404872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classes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657600" y="2404872"/>
            <a:ext cx="2971800" cy="868680"/>
          </a:xfrm>
          <a:prstGeom prst="roundRect">
            <a:avLst>
              <a:gd name="adj" fmla="val 8421"/>
            </a:avLst>
          </a:prstGeom>
          <a:solidFill>
            <a:srgbClr val="0B3B57"/>
          </a:solidFill>
          <a:ln/>
        </p:spPr>
      </p:sp>
      <p:sp>
        <p:nvSpPr>
          <p:cNvPr id="14" name="Text 12"/>
          <p:cNvSpPr/>
          <p:nvPr/>
        </p:nvSpPr>
        <p:spPr>
          <a:xfrm>
            <a:off x="3794760" y="2404872"/>
            <a:ext cx="11887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4937760" y="2404872"/>
            <a:ext cx="1600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50" dirty="0">
                <a:solidFill>
                  <a:srgbClr val="BFDC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02920" y="3456432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Categories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02920" y="3913632"/>
            <a:ext cx="82296" cy="475488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886200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Demographic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713232" y="4133088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gender, city, income bracket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4480560"/>
            <a:ext cx="82296" cy="475488"/>
          </a:xfrm>
          <a:prstGeom prst="rect">
            <a:avLst/>
          </a:prstGeom>
          <a:solidFill>
            <a:srgbClr val="3FA796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4453128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Clinical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13232" y="4700016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BMI, fasting blood sugar, HbA1c, blood pressure, waist circumference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02920" y="5047488"/>
            <a:ext cx="82296" cy="47548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4" name="Text 22"/>
          <p:cNvSpPr/>
          <p:nvPr/>
        </p:nvSpPr>
        <p:spPr>
          <a:xfrm>
            <a:off x="713232" y="5020056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Lifestyle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713232" y="5266944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activity, diet type, smoking &amp; alcohol use, sleep, stress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02920" y="5614416"/>
            <a:ext cx="82296" cy="475488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27" name="Text 25"/>
          <p:cNvSpPr/>
          <p:nvPr/>
        </p:nvSpPr>
        <p:spPr>
          <a:xfrm>
            <a:off x="713232" y="5586984"/>
            <a:ext cx="1828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13232" y="5833872"/>
            <a:ext cx="5394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diabetes_risk — Low / Moderate / High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903720" y="1371600"/>
            <a:ext cx="4800600" cy="4800600"/>
          </a:xfrm>
          <a:prstGeom prst="roundRect">
            <a:avLst>
              <a:gd name="adj" fmla="val 1714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178040" y="1536192"/>
            <a:ext cx="4297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Sample Patient Record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178040" y="199339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784080" y="199339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7040880" y="2340864"/>
            <a:ext cx="45262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Text 32"/>
          <p:cNvSpPr/>
          <p:nvPr/>
        </p:nvSpPr>
        <p:spPr>
          <a:xfrm>
            <a:off x="7178040" y="235915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9784080" y="235915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Female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7178040" y="272491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784080" y="272491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26.5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7040880" y="3072384"/>
            <a:ext cx="45262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9" name="Text 37"/>
          <p:cNvSpPr/>
          <p:nvPr/>
        </p:nvSpPr>
        <p:spPr>
          <a:xfrm>
            <a:off x="7178040" y="309067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history of diabetes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9784080" y="309067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7178040" y="345643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activity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9784080" y="345643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Sedentary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040880" y="3803904"/>
            <a:ext cx="45262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Text 42"/>
          <p:cNvSpPr/>
          <p:nvPr/>
        </p:nvSpPr>
        <p:spPr>
          <a:xfrm>
            <a:off x="7178040" y="382219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Fasting blood sugar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9784080" y="382219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178 mg/dL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178040" y="418795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 level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9784080" y="418795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7.3%</a:t>
            </a:r>
            <a:endParaRPr lang="en-US" sz="1100" dirty="0"/>
          </a:p>
        </p:txBody>
      </p:sp>
      <p:sp>
        <p:nvSpPr>
          <p:cNvPr id="48" name="Shape 46"/>
          <p:cNvSpPr/>
          <p:nvPr/>
        </p:nvSpPr>
        <p:spPr>
          <a:xfrm>
            <a:off x="7040880" y="4535424"/>
            <a:ext cx="45262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9" name="Text 47"/>
          <p:cNvSpPr/>
          <p:nvPr/>
        </p:nvSpPr>
        <p:spPr>
          <a:xfrm>
            <a:off x="7178040" y="455371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pressure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9784080" y="455371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146 / 90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7178040" y="491947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Waist circumference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9784080" y="491947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107.1 cm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7040880" y="5266944"/>
            <a:ext cx="4526280" cy="36576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Text 52"/>
          <p:cNvSpPr/>
          <p:nvPr/>
        </p:nvSpPr>
        <p:spPr>
          <a:xfrm>
            <a:off x="7178040" y="5285232"/>
            <a:ext cx="2651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(target)</a:t>
            </a:r>
            <a:endParaRPr lang="en-US" sz="1100" dirty="0"/>
          </a:p>
        </p:txBody>
      </p:sp>
      <p:sp>
        <p:nvSpPr>
          <p:cNvPr id="55" name="Text 53"/>
          <p:cNvSpPr/>
          <p:nvPr/>
        </p:nvSpPr>
        <p:spPr>
          <a:xfrm>
            <a:off x="9784080" y="5285232"/>
            <a:ext cx="178308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Prediction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Outlier Detection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Boxplots of four key clinical variables reveal right-skewed distributions with a meaningful share of high-end outliers.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074920" cy="1965960"/>
          </a:xfrm>
          <a:prstGeom prst="roundRect">
            <a:avLst>
              <a:gd name="adj" fmla="val 3256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7512" y="1764792"/>
            <a:ext cx="4745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Fasting Blood Sugar</a:t>
            </a:r>
            <a:endParaRPr lang="en-US" sz="1250" dirty="0"/>
          </a:p>
        </p:txBody>
      </p:sp>
      <p:pic>
        <p:nvPicPr>
          <p:cNvPr id="7" name="Image 0" descr="box_fb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057400"/>
            <a:ext cx="4434840" cy="1280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67512" y="3364992"/>
            <a:ext cx="4745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High-value outliers stretch to ~400 mg/dL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5897880" y="1691640"/>
            <a:ext cx="5074920" cy="1965960"/>
          </a:xfrm>
          <a:prstGeom prst="roundRect">
            <a:avLst>
              <a:gd name="adj" fmla="val 3256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62472" y="1764792"/>
            <a:ext cx="4745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HbA1c Level</a:t>
            </a:r>
            <a:endParaRPr lang="en-US" sz="1250" dirty="0"/>
          </a:p>
        </p:txBody>
      </p:sp>
      <p:pic>
        <p:nvPicPr>
          <p:cNvPr id="11" name="Image 1" descr="box_hba1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0" y="2057400"/>
            <a:ext cx="4434840" cy="12801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062472" y="3364992"/>
            <a:ext cx="4745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Elevated-tail outliers above ~9%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502920" y="3913632"/>
            <a:ext cx="5074920" cy="1965960"/>
          </a:xfrm>
          <a:prstGeom prst="roundRect">
            <a:avLst>
              <a:gd name="adj" fmla="val 3256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67512" y="3986784"/>
            <a:ext cx="4745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Systolic Blood Pressure</a:t>
            </a:r>
            <a:endParaRPr lang="en-US" sz="1250" dirty="0"/>
          </a:p>
        </p:txBody>
      </p:sp>
      <p:pic>
        <p:nvPicPr>
          <p:cNvPr id="15" name="Image 2" descr="box_bpsy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2960" y="4279392"/>
            <a:ext cx="4434840" cy="128016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67512" y="5586984"/>
            <a:ext cx="4745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Wide spread with upper outliers near 200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5897880" y="3913632"/>
            <a:ext cx="5074920" cy="1965960"/>
          </a:xfrm>
          <a:prstGeom prst="roundRect">
            <a:avLst>
              <a:gd name="adj" fmla="val 3256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6062472" y="3986784"/>
            <a:ext cx="4745736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Waist Circumference (cm)</a:t>
            </a:r>
            <a:endParaRPr lang="en-US" sz="1250" dirty="0"/>
          </a:p>
        </p:txBody>
      </p:sp>
      <p:pic>
        <p:nvPicPr>
          <p:cNvPr id="19" name="Image 3" descr="box_wais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7920" y="4279392"/>
            <a:ext cx="4434840" cy="12801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062472" y="5586984"/>
            <a:ext cx="4745736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Fairly symmetric, few outliers</a:t>
            </a:r>
            <a:endParaRPr lang="en-US" sz="950" dirty="0"/>
          </a:p>
        </p:txBody>
      </p:sp>
      <p:sp>
        <p:nvSpPr>
          <p:cNvPr id="21" name="Text 1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Prediction</a:t>
            </a:r>
            <a:endParaRPr lang="en-US" sz="900" dirty="0"/>
          </a:p>
        </p:txBody>
      </p:sp>
      <p:sp>
        <p:nvSpPr>
          <p:cNvPr id="22" name="Text 16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Target Class Distribution</a:t>
            </a:r>
            <a:endParaRPr lang="en-US" sz="3000" dirty="0"/>
          </a:p>
        </p:txBody>
      </p:sp>
      <p:pic>
        <p:nvPicPr>
          <p:cNvPr id="4" name="Image 0" descr="target_di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63040"/>
            <a:ext cx="5943600" cy="42519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720840" y="160020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Clear Class Imbalance</a:t>
            </a:r>
            <a:endParaRPr lang="en-US" sz="1700" dirty="0"/>
          </a:p>
        </p:txBody>
      </p:sp>
      <p:sp>
        <p:nvSpPr>
          <p:cNvPr id="6" name="Text 3"/>
          <p:cNvSpPr/>
          <p:nvPr/>
        </p:nvSpPr>
        <p:spPr>
          <a:xfrm>
            <a:off x="6720840" y="1965960"/>
            <a:ext cx="4937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 dominates the dataset, which will bias models toward predicting the majority class unless addressed.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720840" y="2788920"/>
            <a:ext cx="4937760" cy="777240"/>
          </a:xfrm>
          <a:prstGeom prst="roundRect">
            <a:avLst>
              <a:gd name="adj" fmla="val 8235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903720" y="3044952"/>
            <a:ext cx="256032" cy="256032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9" name="Text 6"/>
          <p:cNvSpPr/>
          <p:nvPr/>
        </p:nvSpPr>
        <p:spPr>
          <a:xfrm>
            <a:off x="7269480" y="27889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Risk</a:t>
            </a: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9144000" y="27889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9,000 patients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10744200" y="27889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3FA79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60%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720840" y="3703320"/>
            <a:ext cx="4937760" cy="777240"/>
          </a:xfrm>
          <a:prstGeom prst="roundRect">
            <a:avLst>
              <a:gd name="adj" fmla="val 8235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903720" y="3959352"/>
            <a:ext cx="256032" cy="256032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14" name="Text 11"/>
          <p:cNvSpPr/>
          <p:nvPr/>
        </p:nvSpPr>
        <p:spPr>
          <a:xfrm>
            <a:off x="7269480" y="37033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</a:t>
            </a:r>
            <a:endParaRPr lang="en-US" sz="1350" dirty="0"/>
          </a:p>
        </p:txBody>
      </p:sp>
      <p:sp>
        <p:nvSpPr>
          <p:cNvPr id="15" name="Text 12"/>
          <p:cNvSpPr/>
          <p:nvPr/>
        </p:nvSpPr>
        <p:spPr>
          <a:xfrm>
            <a:off x="9144000" y="37033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3,750 patients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0744200" y="37033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F2A9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25%</a:t>
            </a:r>
            <a:endParaRPr lang="en-US" sz="1800" dirty="0"/>
          </a:p>
        </p:txBody>
      </p:sp>
      <p:sp>
        <p:nvSpPr>
          <p:cNvPr id="17" name="Shape 14"/>
          <p:cNvSpPr/>
          <p:nvPr/>
        </p:nvSpPr>
        <p:spPr>
          <a:xfrm>
            <a:off x="6720840" y="4617720"/>
            <a:ext cx="4937760" cy="777240"/>
          </a:xfrm>
          <a:prstGeom prst="roundRect">
            <a:avLst>
              <a:gd name="adj" fmla="val 8235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6903720" y="4873752"/>
            <a:ext cx="256032" cy="256032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9" name="Text 16"/>
          <p:cNvSpPr/>
          <p:nvPr/>
        </p:nvSpPr>
        <p:spPr>
          <a:xfrm>
            <a:off x="7269480" y="4617720"/>
            <a:ext cx="1920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Risk</a:t>
            </a:r>
            <a:endParaRPr lang="en-US" sz="1350" dirty="0"/>
          </a:p>
        </p:txBody>
      </p:sp>
      <p:sp>
        <p:nvSpPr>
          <p:cNvPr id="20" name="Text 17"/>
          <p:cNvSpPr/>
          <p:nvPr/>
        </p:nvSpPr>
        <p:spPr>
          <a:xfrm>
            <a:off x="9144000" y="4617720"/>
            <a:ext cx="1691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2,250 patients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0744200" y="4617720"/>
            <a:ext cx="8229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800" b="1" dirty="0">
                <a:solidFill>
                  <a:srgbClr val="E8604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15%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EXPLORATORY DATA ANALYSIS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Correlation Analysis</a:t>
            </a:r>
            <a:endParaRPr lang="en-US" sz="3000" dirty="0"/>
          </a:p>
        </p:txBody>
      </p:sp>
      <p:pic>
        <p:nvPicPr>
          <p:cNvPr id="4" name="Image 0" descr="corr_heatm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1417320"/>
            <a:ext cx="6080760" cy="5303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58000" y="1600200"/>
            <a:ext cx="4846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Notable Relationships</a:t>
            </a:r>
            <a:endParaRPr lang="en-US" sz="1700" dirty="0"/>
          </a:p>
        </p:txBody>
      </p:sp>
      <p:sp>
        <p:nvSpPr>
          <p:cNvPr id="6" name="Shape 3"/>
          <p:cNvSpPr/>
          <p:nvPr/>
        </p:nvSpPr>
        <p:spPr>
          <a:xfrm>
            <a:off x="6858000" y="2103120"/>
            <a:ext cx="4846320" cy="932688"/>
          </a:xfrm>
          <a:prstGeom prst="roundRect">
            <a:avLst>
              <a:gd name="adj" fmla="val 6863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022592" y="2176272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BMI ↔ Waist circumference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10195560" y="2148840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0.94</a:t>
            </a:r>
            <a:endParaRPr lang="en-US" sz="1700" dirty="0"/>
          </a:p>
        </p:txBody>
      </p:sp>
      <p:sp>
        <p:nvSpPr>
          <p:cNvPr id="9" name="Text 6"/>
          <p:cNvSpPr/>
          <p:nvPr/>
        </p:nvSpPr>
        <p:spPr>
          <a:xfrm>
            <a:off x="7022592" y="250545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Near-perfect — both capture body composition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6858000" y="3163824"/>
            <a:ext cx="4846320" cy="932688"/>
          </a:xfrm>
          <a:prstGeom prst="roundRect">
            <a:avLst>
              <a:gd name="adj" fmla="val 6863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022592" y="3236976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Fasting blood sugar ↔ HbA1c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0195560" y="3209544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0.91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7022592" y="3566160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— both reflect glycemic control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6858000" y="4224528"/>
            <a:ext cx="4846320" cy="932688"/>
          </a:xfrm>
          <a:prstGeom prst="roundRect">
            <a:avLst>
              <a:gd name="adj" fmla="val 6863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022592" y="4297680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↔ Systolic BP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10195560" y="4270248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0.48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7022592" y="4626864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— blood pressure rises with age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6858000" y="5285232"/>
            <a:ext cx="4846320" cy="932688"/>
          </a:xfrm>
          <a:prstGeom prst="roundRect">
            <a:avLst>
              <a:gd name="adj" fmla="val 6863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022592" y="5358384"/>
            <a:ext cx="3200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Sleep hours ↔ Stress level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10195560" y="5330952"/>
            <a:ext cx="1371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-0.38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7022592" y="5687568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negative — more stress, less sleep</a:t>
            </a:r>
            <a:endParaRPr lang="en-US" sz="1050" dirty="0"/>
          </a:p>
        </p:txBody>
      </p:sp>
      <p:sp>
        <p:nvSpPr>
          <p:cNvPr id="22" name="Text 1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Prediction</a:t>
            </a:r>
            <a:endParaRPr lang="en-US" sz="900" dirty="0"/>
          </a:p>
        </p:txBody>
      </p:sp>
      <p:sp>
        <p:nvSpPr>
          <p:cNvPr id="23" name="Text 20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325880"/>
            <a:ext cx="5303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Columns Dropped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901952"/>
            <a:ext cx="365760" cy="36576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7" name="Text 5"/>
          <p:cNvSpPr/>
          <p:nvPr/>
        </p:nvSpPr>
        <p:spPr>
          <a:xfrm>
            <a:off x="658368" y="1901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70432" y="182880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patient_id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170432" y="20756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— no predictive value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02920" y="2496312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58368" y="2615184"/>
            <a:ext cx="365760" cy="36576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2" name="Text 10"/>
          <p:cNvSpPr/>
          <p:nvPr/>
        </p:nvSpPr>
        <p:spPr>
          <a:xfrm>
            <a:off x="658368" y="2615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70432" y="254203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1170432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high-cardinality, low signal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02920" y="3209544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8368" y="3328416"/>
            <a:ext cx="365760" cy="36576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17" name="Text 15"/>
          <p:cNvSpPr/>
          <p:nvPr/>
        </p:nvSpPr>
        <p:spPr>
          <a:xfrm>
            <a:off x="658368" y="3328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170432" y="3255264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income_bracket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170432" y="35021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463 missing values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02920" y="3922776"/>
            <a:ext cx="5303520" cy="603504"/>
          </a:xfrm>
          <a:prstGeom prst="roundRect">
            <a:avLst>
              <a:gd name="adj" fmla="val 9091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58368" y="4041648"/>
            <a:ext cx="365760" cy="365760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22" name="Text 20"/>
          <p:cNvSpPr/>
          <p:nvPr/>
        </p:nvSpPr>
        <p:spPr>
          <a:xfrm>
            <a:off x="658368" y="4041648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✕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1170432" y="3968496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alcohol_consumption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170432" y="4215384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3,788 missing values (25%+)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263640" y="1325880"/>
            <a:ext cx="5394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Missing Values &amp; Duplicates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6263640" y="1783080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19088" y="1901952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8" name="Text 26"/>
          <p:cNvSpPr/>
          <p:nvPr/>
        </p:nvSpPr>
        <p:spPr>
          <a:xfrm>
            <a:off x="6419088" y="1901952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6931152" y="1828800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smoking_status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31152" y="20756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472 missing → rows dropped (dropna)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263640" y="2496312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419088" y="2615184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3" name="Text 31"/>
          <p:cNvSpPr/>
          <p:nvPr/>
        </p:nvSpPr>
        <p:spPr>
          <a:xfrm>
            <a:off x="6419088" y="2615184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6931152" y="2542032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Remaining nulls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931152" y="2788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Removed via df.dropna() after column drops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263640" y="3209544"/>
            <a:ext cx="5394960" cy="603504"/>
          </a:xfrm>
          <a:prstGeom prst="roundRect">
            <a:avLst>
              <a:gd name="adj" fmla="val 9091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6419088" y="3328416"/>
            <a:ext cx="365760" cy="3657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8" name="Text 36"/>
          <p:cNvSpPr/>
          <p:nvPr/>
        </p:nvSpPr>
        <p:spPr>
          <a:xfrm>
            <a:off x="6419088" y="3328416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6931152" y="3255264"/>
            <a:ext cx="2377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 rows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6931152" y="3502152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found — no deduplication needed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502920" y="4846320"/>
            <a:ext cx="11155680" cy="1234440"/>
          </a:xfrm>
          <a:prstGeom prst="roundRect">
            <a:avLst>
              <a:gd name="adj" fmla="val 5926"/>
            </a:avLst>
          </a:prstGeom>
          <a:solidFill>
            <a:srgbClr val="0B3B57"/>
          </a:solidFill>
          <a:ln/>
        </p:spPr>
      </p:sp>
      <p:sp>
        <p:nvSpPr>
          <p:cNvPr id="42" name="Text 40"/>
          <p:cNvSpPr/>
          <p:nvPr/>
        </p:nvSpPr>
        <p:spPr>
          <a:xfrm>
            <a:off x="777240" y="4992624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FD8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Effect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777240" y="5321808"/>
            <a:ext cx="106070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reduced from 19 columns to 15 usable columns; rows with remaining nulls dropped, leaving a clean, duplicate-free table ready for feature engineering and encoding.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Prediction</a:t>
            </a:r>
            <a:endParaRPr lang="en-US" sz="900" dirty="0"/>
          </a:p>
        </p:txBody>
      </p:sp>
      <p:sp>
        <p:nvSpPr>
          <p:cNvPr id="45" name="Text 43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Feature Engineering &amp; Encoding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280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Engineered Features</a:t>
            </a:r>
            <a:endParaRPr lang="en-US" sz="1550" dirty="0"/>
          </a:p>
        </p:txBody>
      </p:sp>
      <p:sp>
        <p:nvSpPr>
          <p:cNvPr id="5" name="Shape 3"/>
          <p:cNvSpPr/>
          <p:nvPr/>
        </p:nvSpPr>
        <p:spPr>
          <a:xfrm>
            <a:off x="50292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18288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pulse_pressure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31520" y="21305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blood_pressure_systolic − blood_pressure_diastolic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25146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arterial stiffness, a cardiovascular signal linked to metabolic risk.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6035040" y="1691640"/>
            <a:ext cx="5349240" cy="1417320"/>
          </a:xfrm>
          <a:prstGeom prst="roundRect">
            <a:avLst>
              <a:gd name="adj" fmla="val 5161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263640" y="1828800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sugar_interaction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263640" y="2130552"/>
            <a:ext cx="4846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fasting_blood_sugar × hba1c_level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63640" y="2514600"/>
            <a:ext cx="4846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interaction term amplifying the joint signal of two highly-correlated glucose markers.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338328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Encoding &amp; Scaling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02920" y="3794760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02920" y="3794760"/>
            <a:ext cx="73152" cy="658368"/>
          </a:xfrm>
          <a:prstGeom prst="rect">
            <a:avLst/>
          </a:prstGeom>
          <a:solidFill>
            <a:srgbClr val="3FA796"/>
          </a:solidFill>
          <a:ln/>
        </p:spPr>
      </p:sp>
      <p:sp>
        <p:nvSpPr>
          <p:cNvPr id="16" name="Text 14"/>
          <p:cNvSpPr/>
          <p:nvPr/>
        </p:nvSpPr>
        <p:spPr>
          <a:xfrm>
            <a:off x="777240" y="3794760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One-Hot Encoding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3474720" y="3794760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gender, family_history_diabetes, diet_type, smoking_status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02920" y="4581144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502920" y="4581144"/>
            <a:ext cx="73152" cy="658368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20" name="Text 18"/>
          <p:cNvSpPr/>
          <p:nvPr/>
        </p:nvSpPr>
        <p:spPr>
          <a:xfrm>
            <a:off x="777240" y="4581144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Ordinal Encoding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3474720" y="4581144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physical_activity_level (Sedentary → Moderate → Active)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02920" y="5367528"/>
            <a:ext cx="10881360" cy="658368"/>
          </a:xfrm>
          <a:prstGeom prst="roundRect">
            <a:avLst>
              <a:gd name="adj" fmla="val 8333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02920" y="5367528"/>
            <a:ext cx="73152" cy="658368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24" name="Text 22"/>
          <p:cNvSpPr/>
          <p:nvPr/>
        </p:nvSpPr>
        <p:spPr>
          <a:xfrm>
            <a:off x="777240" y="5367528"/>
            <a:ext cx="265176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RobustScaler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3474720" y="5367528"/>
            <a:ext cx="77724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Applied to all numeric features — resilient to the outliers seen in EDA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02920" y="61722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on the training split only, then applied to the test split — preventing data leakage. Split: 80% train / 20% test (random_state = 42).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Prediction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Modeling &amp; Evaluation Setup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classification algorithms are trained on the same 80/20 split and scored on identical metrics for a fair comparison.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83080"/>
            <a:ext cx="2048256" cy="2377440"/>
          </a:xfrm>
          <a:prstGeom prst="roundRect">
            <a:avLst>
              <a:gd name="adj" fmla="val 4018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115568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115568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12648" y="2971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12648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baseline model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688336" y="1783080"/>
            <a:ext cx="2048256" cy="2377440"/>
          </a:xfrm>
          <a:prstGeom prst="roundRect">
            <a:avLst>
              <a:gd name="adj" fmla="val 4018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00984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3300984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798064" y="2971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K-Nearest Neighbors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798064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= 5 neighbors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873752" y="1783080"/>
            <a:ext cx="2048256" cy="2377440"/>
          </a:xfrm>
          <a:prstGeom prst="roundRect">
            <a:avLst>
              <a:gd name="adj" fmla="val 4018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5486400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0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4983480" y="2971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Vector Machine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983480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RBF kernel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059168" y="1783080"/>
            <a:ext cx="2048256" cy="2377440"/>
          </a:xfrm>
          <a:prstGeom prst="roundRect">
            <a:avLst>
              <a:gd name="adj" fmla="val 4018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671816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671816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DT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168896" y="2971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168896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tree classifier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244584" y="1783080"/>
            <a:ext cx="2048256" cy="2377440"/>
          </a:xfrm>
          <a:prstGeom prst="roundRect">
            <a:avLst>
              <a:gd name="adj" fmla="val 4018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857232" y="2011680"/>
            <a:ext cx="822960" cy="8229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9857232" y="2011680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354312" y="2971800"/>
            <a:ext cx="1828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250" dirty="0"/>
          </a:p>
        </p:txBody>
      </p:sp>
      <p:sp>
        <p:nvSpPr>
          <p:cNvPr id="29" name="Text 27"/>
          <p:cNvSpPr/>
          <p:nvPr/>
        </p:nvSpPr>
        <p:spPr>
          <a:xfrm>
            <a:off x="9354312" y="361188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of trees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02920" y="45720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Evaluation Metrics</a:t>
            </a:r>
            <a:endParaRPr lang="en-US" sz="1550" dirty="0"/>
          </a:p>
        </p:txBody>
      </p:sp>
      <p:sp>
        <p:nvSpPr>
          <p:cNvPr id="31" name="Shape 29"/>
          <p:cNvSpPr/>
          <p:nvPr/>
        </p:nvSpPr>
        <p:spPr>
          <a:xfrm>
            <a:off x="502920" y="4983480"/>
            <a:ext cx="1417320" cy="502920"/>
          </a:xfrm>
          <a:prstGeom prst="roundRect">
            <a:avLst>
              <a:gd name="adj" fmla="val 50909"/>
            </a:avLst>
          </a:prstGeom>
          <a:solidFill>
            <a:srgbClr val="0B3B57"/>
          </a:solidFill>
          <a:ln/>
        </p:spPr>
      </p:sp>
      <p:sp>
        <p:nvSpPr>
          <p:cNvPr id="32" name="Text 30"/>
          <p:cNvSpPr/>
          <p:nvPr/>
        </p:nvSpPr>
        <p:spPr>
          <a:xfrm>
            <a:off x="502920" y="4983480"/>
            <a:ext cx="14173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2084832" y="4983480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0B3B57"/>
          </a:solidFill>
          <a:ln/>
        </p:spPr>
      </p:sp>
      <p:sp>
        <p:nvSpPr>
          <p:cNvPr id="34" name="Text 32"/>
          <p:cNvSpPr/>
          <p:nvPr/>
        </p:nvSpPr>
        <p:spPr>
          <a:xfrm>
            <a:off x="2084832" y="49834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(macro)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4398264" y="4983480"/>
            <a:ext cx="1874520" cy="502920"/>
          </a:xfrm>
          <a:prstGeom prst="roundRect">
            <a:avLst>
              <a:gd name="adj" fmla="val 50909"/>
            </a:avLst>
          </a:prstGeom>
          <a:solidFill>
            <a:srgbClr val="0B3B57"/>
          </a:solidFill>
          <a:ln/>
        </p:spPr>
      </p:sp>
      <p:sp>
        <p:nvSpPr>
          <p:cNvPr id="36" name="Text 34"/>
          <p:cNvSpPr/>
          <p:nvPr/>
        </p:nvSpPr>
        <p:spPr>
          <a:xfrm>
            <a:off x="4398264" y="4983480"/>
            <a:ext cx="18745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 (macro)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437376" y="4983480"/>
            <a:ext cx="2103120" cy="502920"/>
          </a:xfrm>
          <a:prstGeom prst="roundRect">
            <a:avLst>
              <a:gd name="adj" fmla="val 50909"/>
            </a:avLst>
          </a:prstGeom>
          <a:solidFill>
            <a:srgbClr val="0B3B57"/>
          </a:solidFill>
          <a:ln/>
        </p:spPr>
      </p:sp>
      <p:sp>
        <p:nvSpPr>
          <p:cNvPr id="38" name="Text 36"/>
          <p:cNvSpPr/>
          <p:nvPr/>
        </p:nvSpPr>
        <p:spPr>
          <a:xfrm>
            <a:off x="6437376" y="498348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(macro)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705088" y="4983480"/>
            <a:ext cx="2148840" cy="502920"/>
          </a:xfrm>
          <a:prstGeom prst="roundRect">
            <a:avLst>
              <a:gd name="adj" fmla="val 50909"/>
            </a:avLst>
          </a:prstGeom>
          <a:solidFill>
            <a:srgbClr val="0B3B57"/>
          </a:solidFill>
          <a:ln/>
        </p:spPr>
      </p:sp>
      <p:sp>
        <p:nvSpPr>
          <p:cNvPr id="40" name="Text 38"/>
          <p:cNvSpPr/>
          <p:nvPr/>
        </p:nvSpPr>
        <p:spPr>
          <a:xfrm>
            <a:off x="8705088" y="4983480"/>
            <a:ext cx="2148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502920" y="576072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Macro-averaging treats all three risk classes equally — important given the class imbalance seen earlier.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Prediction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Comparison</a:t>
            </a:r>
            <a:endParaRPr lang="en-US" sz="3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463040"/>
          <a:ext cx="11155680" cy="2743200"/>
        </p:xfrm>
        <a:graphic>
          <a:graphicData uri="http://schemas.openxmlformats.org/drawingml/2006/table">
            <a:tbl>
              <a:tblPr/>
              <a:tblGrid>
                <a:gridCol w="3291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Accuracy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 (macro)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 (macro)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 (macro)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3B5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Logistic Regression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79.35%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75.10%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72.46%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73.62%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SVM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C729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79.53%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76.33%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71.69%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73.59%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79.08%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74.69%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72.00%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73.20%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KNN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75.02%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68.08%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66.55%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67.22%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72.37%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65.65%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64.99%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B2A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65.30%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7E6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02920" y="443484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edges out on accuracy and precision; Logistic Regression leads on recall and F1 — both are the strongest, closely-matched overall performers.</a:t>
            </a:r>
            <a:endParaRPr lang="en-US" sz="1200" dirty="0"/>
          </a:p>
        </p:txBody>
      </p:sp>
      <p:sp>
        <p:nvSpPr>
          <p:cNvPr id="6" name="Shape 3"/>
          <p:cNvSpPr/>
          <p:nvPr/>
        </p:nvSpPr>
        <p:spPr>
          <a:xfrm>
            <a:off x="502920" y="5074920"/>
            <a:ext cx="164592" cy="16459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5010912"/>
            <a:ext cx="54864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Highlighted values indicate the top score for that metric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Prediction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Comparison — Visual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four macro-averaged metrics, side by side for each of the five models.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777240" y="1691640"/>
            <a:ext cx="10607040" cy="4709160"/>
          </a:xfrm>
          <a:prstGeom prst="roundRect">
            <a:avLst>
              <a:gd name="adj" fmla="val 1553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pic>
        <p:nvPicPr>
          <p:cNvPr id="6" name="Image 0" descr="model_b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000" y="1965960"/>
            <a:ext cx="9875520" cy="4160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Matrices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Predicted vs. true risk class for every model on the held-out test set (n = 2,906).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85800" y="1645920"/>
            <a:ext cx="10789920" cy="4800600"/>
          </a:xfrm>
          <a:prstGeom prst="roundRect">
            <a:avLst>
              <a:gd name="adj" fmla="val 1524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pic>
        <p:nvPicPr>
          <p:cNvPr id="6" name="Image 0" descr="confusion_gri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1828800"/>
            <a:ext cx="10332720" cy="44348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Prediction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DEEP DIVE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Per-Class Performance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02920" y="1170432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by risk class for the top three models — the Moderate class is consistently the hardest to classify.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02920" y="1737360"/>
            <a:ext cx="3611880" cy="4114800"/>
          </a:xfrm>
          <a:prstGeom prst="roundRect">
            <a:avLst>
              <a:gd name="adj" fmla="val 2278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965960"/>
            <a:ext cx="219456" cy="219456"/>
          </a:xfrm>
          <a:prstGeom prst="ellipse">
            <a:avLst/>
          </a:prstGeom>
          <a:solidFill>
            <a:srgbClr val="E8604C"/>
          </a:solidFill>
          <a:ln/>
        </p:spPr>
      </p:sp>
      <p:sp>
        <p:nvSpPr>
          <p:cNvPr id="7" name="Text 5"/>
          <p:cNvSpPr/>
          <p:nvPr/>
        </p:nvSpPr>
        <p:spPr>
          <a:xfrm>
            <a:off x="105156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High Risk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246888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777240" y="2743200"/>
            <a:ext cx="3063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7E6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7240" y="2743200"/>
            <a:ext cx="2297430" cy="292608"/>
          </a:xfrm>
          <a:prstGeom prst="roundRect">
            <a:avLst>
              <a:gd name="adj" fmla="val 15625"/>
            </a:avLst>
          </a:prstGeom>
          <a:solidFill>
            <a:srgbClr val="E8604C"/>
          </a:solidFill>
          <a:ln/>
        </p:spPr>
      </p:sp>
      <p:sp>
        <p:nvSpPr>
          <p:cNvPr id="11" name="Text 9"/>
          <p:cNvSpPr/>
          <p:nvPr/>
        </p:nvSpPr>
        <p:spPr>
          <a:xfrm>
            <a:off x="77724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" y="324612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77240" y="3520440"/>
            <a:ext cx="3063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7E6E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520440"/>
            <a:ext cx="2297430" cy="292608"/>
          </a:xfrm>
          <a:prstGeom prst="roundRect">
            <a:avLst>
              <a:gd name="adj" fmla="val 15625"/>
            </a:avLst>
          </a:prstGeom>
          <a:solidFill>
            <a:srgbClr val="E8604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52044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77240" y="402336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77240" y="4297680"/>
            <a:ext cx="3063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7E6EB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77240" y="4297680"/>
            <a:ext cx="2297430" cy="292608"/>
          </a:xfrm>
          <a:prstGeom prst="roundRect">
            <a:avLst>
              <a:gd name="adj" fmla="val 15625"/>
            </a:avLst>
          </a:prstGeom>
          <a:solidFill>
            <a:srgbClr val="E8604C"/>
          </a:solidFill>
          <a:ln/>
        </p:spPr>
      </p:sp>
      <p:sp>
        <p:nvSpPr>
          <p:cNvPr id="19" name="Text 17"/>
          <p:cNvSpPr/>
          <p:nvPr/>
        </p:nvSpPr>
        <p:spPr>
          <a:xfrm>
            <a:off x="777240" y="429768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97680" y="1737360"/>
            <a:ext cx="3611880" cy="4114800"/>
          </a:xfrm>
          <a:prstGeom prst="roundRect">
            <a:avLst>
              <a:gd name="adj" fmla="val 2278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526280" y="1965960"/>
            <a:ext cx="219456" cy="219456"/>
          </a:xfrm>
          <a:prstGeom prst="ellipse">
            <a:avLst/>
          </a:prstGeom>
          <a:solidFill>
            <a:srgbClr val="3FA796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Low Risk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4572000" y="246888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4572000" y="2743200"/>
            <a:ext cx="3063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7E6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0" y="2743200"/>
            <a:ext cx="2726284" cy="292608"/>
          </a:xfrm>
          <a:prstGeom prst="roundRect">
            <a:avLst>
              <a:gd name="adj" fmla="val 15625"/>
            </a:avLst>
          </a:prstGeom>
          <a:solidFill>
            <a:srgbClr val="3FA796"/>
          </a:solidFill>
          <a:ln/>
        </p:spPr>
      </p:sp>
      <p:sp>
        <p:nvSpPr>
          <p:cNvPr id="26" name="Text 24"/>
          <p:cNvSpPr/>
          <p:nvPr/>
        </p:nvSpPr>
        <p:spPr>
          <a:xfrm>
            <a:off x="457200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572000" y="324612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4572000" y="3520440"/>
            <a:ext cx="3063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7E6E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572000" y="3520440"/>
            <a:ext cx="2726284" cy="292608"/>
          </a:xfrm>
          <a:prstGeom prst="roundRect">
            <a:avLst>
              <a:gd name="adj" fmla="val 15625"/>
            </a:avLst>
          </a:prstGeom>
          <a:solidFill>
            <a:srgbClr val="3FA796"/>
          </a:solidFill>
          <a:ln/>
        </p:spPr>
      </p:sp>
      <p:sp>
        <p:nvSpPr>
          <p:cNvPr id="30" name="Text 28"/>
          <p:cNvSpPr/>
          <p:nvPr/>
        </p:nvSpPr>
        <p:spPr>
          <a:xfrm>
            <a:off x="4572000" y="352044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572000" y="402336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0" y="4297680"/>
            <a:ext cx="3063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7E6EB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0" y="4297680"/>
            <a:ext cx="2726284" cy="292608"/>
          </a:xfrm>
          <a:prstGeom prst="roundRect">
            <a:avLst>
              <a:gd name="adj" fmla="val 15625"/>
            </a:avLst>
          </a:prstGeom>
          <a:solidFill>
            <a:srgbClr val="3FA796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0" y="429768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0.89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8092440" y="1737360"/>
            <a:ext cx="3611880" cy="4114800"/>
          </a:xfrm>
          <a:prstGeom prst="roundRect">
            <a:avLst>
              <a:gd name="adj" fmla="val 2278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321040" y="1965960"/>
            <a:ext cx="219456" cy="219456"/>
          </a:xfrm>
          <a:prstGeom prst="ellipse">
            <a:avLst/>
          </a:prstGeom>
          <a:solidFill>
            <a:srgbClr val="F2A93B"/>
          </a:solidFill>
          <a:ln/>
        </p:spPr>
      </p:sp>
      <p:sp>
        <p:nvSpPr>
          <p:cNvPr id="37" name="Text 35"/>
          <p:cNvSpPr/>
          <p:nvPr/>
        </p:nvSpPr>
        <p:spPr>
          <a:xfrm>
            <a:off x="8641080" y="1920240"/>
            <a:ext cx="2880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Moderate Risk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8366760" y="246888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Logistic Regression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8366760" y="2743200"/>
            <a:ext cx="3063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7E6E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366760" y="2743200"/>
            <a:ext cx="1746047" cy="292608"/>
          </a:xfrm>
          <a:prstGeom prst="roundRect">
            <a:avLst>
              <a:gd name="adj" fmla="val 15625"/>
            </a:avLst>
          </a:prstGeom>
          <a:solidFill>
            <a:srgbClr val="F2A93B"/>
          </a:solidFill>
          <a:ln/>
        </p:spPr>
      </p:sp>
      <p:sp>
        <p:nvSpPr>
          <p:cNvPr id="41" name="Text 39"/>
          <p:cNvSpPr/>
          <p:nvPr/>
        </p:nvSpPr>
        <p:spPr>
          <a:xfrm>
            <a:off x="836676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8366760" y="324612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366760" y="3520440"/>
            <a:ext cx="3063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7E6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366760" y="3520440"/>
            <a:ext cx="1746047" cy="292608"/>
          </a:xfrm>
          <a:prstGeom prst="roundRect">
            <a:avLst>
              <a:gd name="adj" fmla="val 15625"/>
            </a:avLst>
          </a:prstGeom>
          <a:solidFill>
            <a:srgbClr val="F2A93B"/>
          </a:solidFill>
          <a:ln/>
        </p:spPr>
      </p:sp>
      <p:sp>
        <p:nvSpPr>
          <p:cNvPr id="45" name="Text 43"/>
          <p:cNvSpPr/>
          <p:nvPr/>
        </p:nvSpPr>
        <p:spPr>
          <a:xfrm>
            <a:off x="8366760" y="352044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0.57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8366760" y="4023360"/>
            <a:ext cx="3063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050" dirty="0"/>
          </a:p>
        </p:txBody>
      </p:sp>
      <p:sp>
        <p:nvSpPr>
          <p:cNvPr id="47" name="Shape 45"/>
          <p:cNvSpPr/>
          <p:nvPr/>
        </p:nvSpPr>
        <p:spPr>
          <a:xfrm>
            <a:off x="8366760" y="4297680"/>
            <a:ext cx="3063240" cy="292608"/>
          </a:xfrm>
          <a:prstGeom prst="roundRect">
            <a:avLst>
              <a:gd name="adj" fmla="val 15625"/>
            </a:avLst>
          </a:prstGeom>
          <a:solidFill>
            <a:srgbClr val="FFFFFF"/>
          </a:solidFill>
          <a:ln w="9525">
            <a:solidFill>
              <a:srgbClr val="D7E6EB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8366760" y="4297680"/>
            <a:ext cx="1715414" cy="292608"/>
          </a:xfrm>
          <a:prstGeom prst="roundRect">
            <a:avLst>
              <a:gd name="adj" fmla="val 15625"/>
            </a:avLst>
          </a:prstGeom>
          <a:solidFill>
            <a:srgbClr val="F2A93B"/>
          </a:solidFill>
          <a:ln/>
        </p:spPr>
      </p:sp>
      <p:sp>
        <p:nvSpPr>
          <p:cNvPr id="49" name="Text 47"/>
          <p:cNvSpPr/>
          <p:nvPr/>
        </p:nvSpPr>
        <p:spPr>
          <a:xfrm>
            <a:off x="8366760" y="429768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0.56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502920" y="5989320"/>
            <a:ext cx="11155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 shown for each model. Low risk (majority class) is predicted best; Moderate risk sits between the other two classes and is hardest to separate.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Prediction</a:t>
            </a:r>
            <a:endParaRPr lang="en-US" sz="900" dirty="0"/>
          </a:p>
        </p:txBody>
      </p:sp>
      <p:sp>
        <p:nvSpPr>
          <p:cNvPr id="52" name="Text 50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02920" y="585216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B3B5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Insights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02920" y="1508760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508760"/>
            <a:ext cx="82296" cy="1051560"/>
          </a:xfrm>
          <a:prstGeom prst="rect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18488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performers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77240" y="1947672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SVM (79.5% accuracy) and Logistic Regression (73.6% macro F1) lead a tightly clustered top three that also includes Random Forest.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02920" y="2715768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02920" y="2715768"/>
            <a:ext cx="82296" cy="1051560"/>
          </a:xfrm>
          <a:prstGeom prst="rect">
            <a:avLst/>
          </a:prstGeom>
          <a:solidFill>
            <a:srgbClr val="3FA796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825496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drives results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77240" y="315468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60% of records labeled Low risk, every model predicts that class most reliably (F1 ≈ 0.87–0.89).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3922776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2920" y="3922776"/>
            <a:ext cx="82296" cy="1051560"/>
          </a:xfrm>
          <a:prstGeom prst="rect">
            <a:avLst/>
          </a:prstGeom>
          <a:solidFill>
            <a:srgbClr val="F2A93B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4032504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Moderate risk is the blind spot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" y="4361688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F1-scores for Moderate risk fall to 0.46–0.57 across all models — it overlaps with both neighboring classes.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02920" y="5129784"/>
            <a:ext cx="11155680" cy="1051560"/>
          </a:xfrm>
          <a:prstGeom prst="roundRect">
            <a:avLst>
              <a:gd name="adj" fmla="val 6957"/>
            </a:avLst>
          </a:prstGeom>
          <a:solidFill>
            <a:srgbClr val="EAF3F6"/>
          </a:solidFill>
          <a:ln w="12700">
            <a:solidFill>
              <a:srgbClr val="D7E6E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" y="5129784"/>
            <a:ext cx="82296" cy="1051560"/>
          </a:xfrm>
          <a:prstGeom prst="rect">
            <a:avLst/>
          </a:prstGeom>
          <a:solidFill>
            <a:srgbClr val="E8604C"/>
          </a:solidFill>
          <a:ln/>
        </p:spPr>
      </p:sp>
      <p:sp>
        <p:nvSpPr>
          <p:cNvPr id="18" name="Text 16"/>
          <p:cNvSpPr/>
          <p:nvPr/>
        </p:nvSpPr>
        <p:spPr>
          <a:xfrm>
            <a:off x="777240" y="5239512"/>
            <a:ext cx="10607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B3B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models underperform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77240" y="5568696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150" dirty="0">
                <a:solidFill>
                  <a:srgbClr val="1B2A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KNN and Decision Tree trail by 4–7 accuracy points, suggesting the decision boundaries are not simply local or axis-aligned.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57200" y="6547104"/>
            <a:ext cx="7315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Prediction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547104"/>
            <a:ext cx="457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5B7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3B5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869680" y="-1463040"/>
            <a:ext cx="5029200" cy="502920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4846320"/>
            <a:ext cx="2926080" cy="2926080"/>
          </a:xfrm>
          <a:prstGeom prst="ellipse">
            <a:avLst/>
          </a:prstGeom>
          <a:solidFill>
            <a:srgbClr val="3FA796">
              <a:alpha val="16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822960" y="342900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7DC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Diabetes Risk Prediction — a five-model classification study on 15,000 patient records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22960" y="40233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8FB4C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1169</Words>
  <Application>Microsoft Office PowerPoint</Application>
  <PresentationFormat>Widescreen</PresentationFormat>
  <Paragraphs>300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0" baseType="lpstr">
      <vt:lpstr>Arial</vt:lpstr>
      <vt:lpstr>Calibri</vt:lpstr>
      <vt:lpstr>Cambria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علي محمد علي محمد</cp:lastModifiedBy>
  <cp:revision>2</cp:revision>
  <dcterms:created xsi:type="dcterms:W3CDTF">2026-08-27T11:40:32Z</dcterms:created>
  <dcterms:modified xsi:type="dcterms:W3CDTF">2026-08-27T18:15:37Z</dcterms:modified>
</cp:coreProperties>
</file>